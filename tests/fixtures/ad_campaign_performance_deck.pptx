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5" r:id="rId16"/>
    <p:sldId id="266" r:id="rId17"/>
    <p:sldId id="259" r:id="rId10"/>
    <p:sldId id="267" r:id="rId18"/>
    <p:sldId id="260" r:id="rId11"/>
    <p:sldId id="268" r:id="rId19"/>
    <p:sldId id="261" r:id="rId12"/>
    <p:sldId id="262" r:id="rId13"/>
    <p:sldId id="269" r:id="rId20"/>
    <p:sldId id="263" r:id="rId14"/>
    <p:sldId id="264" r:id="rId15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6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7.xml"/><Relationship Id="rId19" Type="http://schemas.openxmlformats.org/officeDocument/2006/relationships/slide" Target="slides/slide9.xml"/><Relationship Id="rId20" Type="http://schemas.openxmlformats.org/officeDocument/2006/relationships/slide" Target="slides/slide12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Spend by Platform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 ($)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Google Ads</c:v>
                </c:pt>
                <c:pt idx="1">
                  <c:v>Facebook Ads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1939003.26</c:v>
                </c:pt>
                <c:pt idx="1">
                  <c:v>564115.51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CTR by Platform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Google Ads</c:v>
                </c:pt>
                <c:pt idx="1">
                  <c:v>Facebook Ads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15.97</c:v>
                </c:pt>
                <c:pt idx="1">
                  <c:v>1.91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Google Ads Spend by Device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 ($)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587890.5</c:v>
                </c:pt>
                <c:pt idx="1">
                  <c:v>1343621.07</c:v>
                </c:pt>
                <c:pt idx="2">
                  <c:v>7491.69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Facebook Ads CTR by Audience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Audience 1</c:v>
                </c:pt>
                <c:pt idx="1">
                  <c:v>Audience 2</c:v>
                </c:pt>
                <c:pt idx="2">
                  <c:v>Audience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1.82</c:v>
                </c:pt>
                <c:pt idx="1">
                  <c:v>2.27</c:v>
                </c:pt>
                <c:pt idx="2">
                  <c:v>2.82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Spend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($)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2019-10</c:v>
                </c:pt>
                <c:pt idx="1">
                  <c:v>2019-11</c:v>
                </c:pt>
                <c:pt idx="2">
                  <c:v>2019-12</c:v>
                </c:pt>
                <c:pt idx="3">
                  <c:v>2020-01</c:v>
                </c:pt>
                <c:pt idx="4">
                  <c:v>2020-02</c:v>
                </c:pt>
                <c:pt idx="5">
                  <c:v>2020-03</c:v>
                </c:pt>
                <c:pt idx="6">
                  <c:v>2020-04</c:v>
                </c:pt>
                <c:pt idx="7">
                  <c:v>2020-05</c:v>
                </c:pt>
                <c:pt idx="8">
                  <c:v>2020-06</c:v>
                </c:pt>
                <c:pt idx="9">
                  <c:v>2020-07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16017.78</c:v>
                </c:pt>
                <c:pt idx="1">
                  <c:v>112818.44</c:v>
                </c:pt>
                <c:pt idx="2">
                  <c:v>618353.14</c:v>
                </c:pt>
                <c:pt idx="3">
                  <c:v>648650.1</c:v>
                </c:pt>
                <c:pt idx="4">
                  <c:v>630323.36</c:v>
                </c:pt>
                <c:pt idx="5">
                  <c:v>430148.45</c:v>
                </c:pt>
                <c:pt idx="6">
                  <c:v>14926.1</c:v>
                </c:pt>
                <c:pt idx="7">
                  <c:v>14571.59</c:v>
                </c:pt>
                <c:pt idx="8">
                  <c:v>14286.49</c:v>
                </c:pt>
                <c:pt idx="9">
                  <c:v>3023.32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Ad Campaign Performance — Google Ads vs. Facebook 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Metrics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Total Spend: $2,503,118.77 across 16,834 records</a:t>
            </a:r>
          </a:p>
          <a:p>
            <a:r>
              <a:rPr>
                <a:latin typeface="Calibri"/>
              </a:rPr>
              <a:t>Total Impressions: 4,847,505  |  Total Clicks: 201,634</a:t>
            </a:r>
          </a:p>
          <a:p>
            <a:r>
              <a:rPr>
                <a:latin typeface="Calibri"/>
              </a:rPr>
              <a:t>Overall CTR: 4.16%  |  Date Range: Oct 16, 2019 - Jul 7, 2020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Platform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Google Ads: $1,939,003.26 spend, 124,065 clicks, 15.97% CTR, $15.63 CPC</a:t>
            </a:r>
          </a:p>
          <a:p>
            <a:r>
              <a:rPr>
                <a:latin typeface="Calibri"/>
              </a:rPr>
              <a:t>Facebook Ads: $564,115.51 spend, 77,569 clicks, 1.91% CTR, $7.27 CPC</a:t>
            </a:r>
          </a:p>
          <a:p>
            <a:r>
              <a:rPr>
                <a:latin typeface="Calibri"/>
              </a:rPr>
              <a:t>Google converts far more efficiently per impression; Facebook reaches more impressions per dollar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Spend by Platform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CTR by Platform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Google Ads: Device &amp; Subchannel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Desktop has the best CTR (18.24%) despite receiving less budget than Mobile</a:t>
            </a:r>
          </a:p>
          <a:p>
            <a:r>
              <a:rPr>
                <a:latin typeface="Calibri"/>
              </a:rPr>
              <a:t>Mobile absorbs 69% of Google spend but converts slightly less efficiently (15.38% CTR)</a:t>
            </a:r>
          </a:p>
          <a:p>
            <a:r>
              <a:rPr>
                <a:latin typeface="Calibri"/>
              </a:rPr>
              <a:t>Brand keywords convert far better than their budget share vs. Generic keywords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Google Ads: Spend by Device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Facebook Ads: Audience &amp; Creative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Audience 1 gets 85.7% of Facebook spend but has the lowest CTR (1.82%) of the 3 segments</a:t>
            </a:r>
          </a:p>
          <a:p>
            <a:r>
              <a:rPr>
                <a:latin typeface="Calibri"/>
              </a:rPr>
              <a:t>Audience 3 is the smallest segment but the most efficient (2.82% CTR) — worth testing at scale</a:t>
            </a:r>
          </a:p>
          <a:p>
            <a:r>
              <a:rPr>
                <a:latin typeface="Calibri"/>
              </a:rPr>
              <a:t>Image creatives significantly outperform Carousal creatives in raw clicks (72,050 vs 5,519)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Facebook Ads: CTR by Audience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Statistical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Spend and clicks are strongly correlated (Pearson r = 0.838)</a:t>
            </a:r>
          </a:p>
          <a:p>
            <a:r>
              <a:rPr>
                <a:latin typeface="Calibri"/>
              </a:rPr>
              <a:t>Regression: clicks ~ spend + impressions, R-squared = 0.896 (both predictors significant, p&lt;0.001)</a:t>
            </a:r>
          </a:p>
          <a:p>
            <a:r>
              <a:rPr>
                <a:latin typeface="Calibri"/>
              </a:rPr>
              <a:t>Every additional $1 of spend is associated with +0.032 clicks, holding impressions constant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Data Quality 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Every Facebook Ads row (1,733 of 16,834) has corrupted device/subchannel values in the source CSV</a:t>
            </a:r>
          </a:p>
          <a:p>
            <a:r>
              <a:rPr>
                <a:latin typeface="Calibri"/>
              </a:rPr>
              <a:t>device column literally contains the text "device"; subchannel contains "Facebook Ads"</a:t>
            </a:r>
          </a:p>
          <a:p>
            <a:r>
              <a:rPr>
                <a:latin typeface="Calibri"/>
              </a:rPr>
              <a:t>Confirmed as a source-data defect, not a tool bug — device/subchannel breakdowns scoped to Google Ads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Monthly Spend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Forecast Caveat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Automated forecast ($111,119/month) contradicts the confirmed "down" trend and last actual ($3,023)</a:t>
            </a:r>
          </a:p>
          <a:p>
            <a:r>
              <a:rPr>
                <a:latin typeface="Calibri"/>
              </a:rPr>
              <a:t>Root cause: naive exponential smoothing anchored by the Dec 2019-Mar 2020 spend spike, not a code bug</a:t>
            </a:r>
          </a:p>
          <a:p>
            <a:r>
              <a:rPr>
                <a:latin typeface="Calibri"/>
              </a:rPr>
              <a:t>Recommendation: use the last 3-4 actual months as the near-term planning baseline instead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libri"/>
              </a:rPr>
              <a:t>1. Shift incremental Google budget toward Desktop + Brand keywords</a:t>
            </a:r>
          </a:p>
          <a:p>
            <a:r>
              <a:rPr>
                <a:latin typeface="Calibri"/>
              </a:rPr>
              <a:t>2. Test reallocating Facebook budget from Audience 1 toward Audience 3</a:t>
            </a:r>
          </a:p>
          <a:p>
            <a:r>
              <a:rPr>
                <a:latin typeface="Calibri"/>
              </a:rPr>
              <a:t>3. Investigate the CTR drop during the Dec 2019-Mar 2020 spend peak before scaling again</a:t>
            </a:r>
          </a:p>
          <a:p>
            <a:r>
              <a:rPr>
                <a:latin typeface="Calibri"/>
              </a:rPr>
              <a:t>4. Fix the Facebook device/subchannel export defect at the source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685800"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Fix Facebook device/subchannel export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Re-audit device/subchannel figures post-fix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Test budget shift: Audience 1 to Audience 3 (FB)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/ Paid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Shift Google budget toward Desktop +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/ Paid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Investigate CTR drop during Dec-Mar spend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